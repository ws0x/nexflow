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-2286000"/>
            <a:ext cx="4572000" cy="4572000"/>
          </a:xfrm>
          <a:prstGeom prst="ellipse">
            <a:avLst/>
          </a:prstGeom>
          <a:solidFill>
            <a:srgbClr val="06B6D4">
              <a:alpha val="12000"/>
            </a:srgbClr>
          </a:solidFill>
          <a:ln w="12700">
            <a:solidFill>
              <a:srgbClr val="06B6D4">
                <a:alpha val="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0" y="-1645920"/>
            <a:ext cx="2743200" cy="274320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>
                <a:alpha val="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978908"/>
            <a:ext cx="9144000" cy="91440"/>
          </a:xfrm>
          <a:prstGeom prst="rect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1920" y="411480"/>
            <a:ext cx="1280160" cy="1280160"/>
          </a:xfrm>
          <a:prstGeom prst="ellipse">
            <a:avLst/>
          </a:prstGeom>
          <a:solidFill>
            <a:srgbClr val="06B6D4">
              <a:alpha val="85000"/>
            </a:srgbClr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254000" dist="50800" dir="8100000">
              <a:srgbClr val="06B6D4">
                <a:alpha val="5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31920" y="4114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⚡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91440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NexFlow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914400" y="2907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Lead Pipeline Management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349300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Makka Corp  ·  Internal Platform  ·  2025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086100" y="39776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06B6D4">
              <a:alpha val="25000"/>
            </a:srgbClr>
          </a:solidFill>
          <a:ln w="12700">
            <a:solidFill>
              <a:srgbClr val="06B6D4">
                <a:alpha val="7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6100" y="3977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63340" y="39776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818CF8">
              <a:alpha val="25000"/>
            </a:srgbClr>
          </a:solidFill>
          <a:ln w="12700">
            <a:solidFill>
              <a:srgbClr val="818CF8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63340" y="3977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40580" y="39776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>
                <a:alpha val="7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40580" y="3977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17820" y="39776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60A5FA">
              <a:alpha val="25000"/>
            </a:srgbClr>
          </a:solidFill>
          <a:ln w="12700">
            <a:solidFill>
              <a:srgbClr val="60A5FA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17820" y="3977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Way Was Costing Us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NexFlow, every entity ran its own Excel sheet — disconnected, untracked, and unreliable.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3886200" cy="1572768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15568"/>
            <a:ext cx="59436" cy="15727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" y="1207008"/>
            <a:ext cx="512064" cy="512064"/>
          </a:xfrm>
          <a:prstGeom prst="ellipse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12070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8" dirty="0">
                <a:solidFill>
                  <a:srgbClr val="000000"/>
                </a:solidFill>
              </a:rPr>
              <a:t>📊</a:t>
            </a:r>
            <a:endParaRPr lang="en-US" sz="728" dirty="0"/>
          </a:p>
        </p:txBody>
      </p:sp>
      <p:sp>
        <p:nvSpPr>
          <p:cNvPr id="9" name="Text 7"/>
          <p:cNvSpPr/>
          <p:nvPr/>
        </p:nvSpPr>
        <p:spPr>
          <a:xfrm>
            <a:off x="1234440" y="122529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Chaos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5216" y="1609344"/>
            <a:ext cx="3630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sheets, version conflicts, no real-time visibility across teams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54880" y="1115568"/>
            <a:ext cx="3886200" cy="1572768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115568"/>
            <a:ext cx="59436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82896" y="1207008"/>
            <a:ext cx="512064" cy="512064"/>
          </a:xfrm>
          <a:prstGeom prst="ellipse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82896" y="12070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8" dirty="0">
                <a:solidFill>
                  <a:srgbClr val="000000"/>
                </a:solidFill>
              </a:rPr>
              <a:t>🔓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5532120" y="122529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Leads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82896" y="1609344"/>
            <a:ext cx="3630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handoff tracking — leads fell through the cracks between marketing and sales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3886200" cy="1572768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788920"/>
            <a:ext cx="59436" cy="15727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5216" y="2880360"/>
            <a:ext cx="512064" cy="512064"/>
          </a:xfrm>
          <a:prstGeom prst="ellipse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" y="28803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8" dirty="0">
                <a:solidFill>
                  <a:srgbClr val="000000"/>
                </a:solidFill>
              </a:rPr>
              <a:t>❓</a:t>
            </a:r>
            <a:endParaRPr lang="en-US" sz="728" dirty="0"/>
          </a:p>
        </p:txBody>
      </p:sp>
      <p:sp>
        <p:nvSpPr>
          <p:cNvPr id="21" name="Text 19"/>
          <p:cNvSpPr/>
          <p:nvPr/>
        </p:nvSpPr>
        <p:spPr>
          <a:xfrm>
            <a:off x="1234440" y="28986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Accountability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85216" y="3282696"/>
            <a:ext cx="3630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trail, no way to know who changed what or when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0" y="2788920"/>
            <a:ext cx="3886200" cy="1572768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2788920"/>
            <a:ext cx="59436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82896" y="2880360"/>
            <a:ext cx="512064" cy="512064"/>
          </a:xfrm>
          <a:prstGeom prst="ellipse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82896" y="28803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8" dirty="0">
                <a:solidFill>
                  <a:srgbClr val="000000"/>
                </a:solidFill>
              </a:rPr>
              <a:t>🏢</a:t>
            </a:r>
            <a:endParaRPr lang="en-US" sz="728" dirty="0"/>
          </a:p>
        </p:txBody>
      </p:sp>
      <p:sp>
        <p:nvSpPr>
          <p:cNvPr id="27" name="Text 25"/>
          <p:cNvSpPr/>
          <p:nvPr/>
        </p:nvSpPr>
        <p:spPr>
          <a:xfrm>
            <a:off x="5532120" y="28986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Data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82896" y="3282696"/>
            <a:ext cx="3630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entities (HSL, MGL, MKL, HCL) with zero unified pipeline view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Four Entities. Full Control.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5895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5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 ·  Role-based  ·  Mobile-first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56032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2560320" cy="457200"/>
          </a:xfrm>
          <a:prstGeom prst="rect">
            <a:avLst/>
          </a:prstGeom>
          <a:solidFill>
            <a:srgbClr val="06B6D4">
              <a:alpha val="80000"/>
            </a:srgbClr>
          </a:solidFill>
          <a:ln w="12700">
            <a:solidFill>
              <a:srgbClr val="06B6D4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Marketing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" y="1737360"/>
            <a:ext cx="182880" cy="18288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6420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lead entry form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" y="2395728"/>
            <a:ext cx="182880" cy="18288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322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dictation support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" y="3054096"/>
            <a:ext cx="182880" cy="18288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" y="298094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code auto-generated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" y="3712464"/>
            <a:ext cx="182880" cy="18288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" y="363931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department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35808" y="25603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291840" y="1097280"/>
            <a:ext cx="256032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0" y="1097280"/>
            <a:ext cx="2560320" cy="457200"/>
          </a:xfrm>
          <a:prstGeom prst="rect">
            <a:avLst/>
          </a:prstGeom>
          <a:solidFill>
            <a:srgbClr val="818CF8">
              <a:alpha val="80000"/>
            </a:srgbClr>
          </a:solidFill>
          <a:ln w="12700">
            <a:solidFill>
              <a:srgbClr val="818CF8">
                <a:alpha val="8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Pipeline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456432" y="1737360"/>
            <a:ext cx="182880" cy="18288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12464" y="166420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status tracking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56432" y="2395728"/>
            <a:ext cx="182880" cy="18288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12464" y="2322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handoff card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456432" y="3054096"/>
            <a:ext cx="182880" cy="18288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12464" y="298094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notifications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456432" y="3712464"/>
            <a:ext cx="182880" cy="18288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12464" y="363931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870448" y="25603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126480" y="1097280"/>
            <a:ext cx="256032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0" y="1097280"/>
            <a:ext cx="2560320" cy="457200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>
                <a:alpha val="8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 Sales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291072" y="1737360"/>
            <a:ext cx="182880" cy="1828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47104" y="166420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leads queue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91072" y="2395728"/>
            <a:ext cx="182880" cy="1828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2322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response fields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91072" y="3054096"/>
            <a:ext cx="182880" cy="1828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47104" y="298094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&amp; follow-up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91072" y="3712464"/>
            <a:ext cx="182880" cy="1828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47104" y="363931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notification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02920" y="46177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contact to closed deal — every step tracked, every role in control.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Information, to the Right Person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58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NexFlow enforces role-based access at every layer — from page routing to individual field visibility.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097280"/>
            <a:ext cx="1920240" cy="315468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097280"/>
            <a:ext cx="1920240" cy="566928"/>
          </a:xfrm>
          <a:prstGeom prst="rect">
            <a:avLst/>
          </a:prstGeom>
          <a:solidFill>
            <a:srgbClr val="06B6D4">
              <a:alpha val="80000"/>
            </a:srgbClr>
          </a:solidFill>
          <a:ln w="12700">
            <a:solidFill>
              <a:srgbClr val="06B6D4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1064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4088" y="1700784"/>
            <a:ext cx="1645920" cy="0"/>
          </a:xfrm>
          <a:prstGeom prst="line">
            <a:avLst/>
          </a:prstGeom>
          <a:noFill/>
          <a:ln w="12700">
            <a:solidFill>
              <a:srgbClr val="06B6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920240"/>
            <a:ext cx="109728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4708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&amp; submit leads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04088" y="2487168"/>
            <a:ext cx="109728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414016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dictation input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" y="3054096"/>
            <a:ext cx="109728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980944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own lead history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04088" y="3621024"/>
            <a:ext cx="109728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547872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handoff trigger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96896" y="1097280"/>
            <a:ext cx="1920240" cy="315468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96896" y="1097280"/>
            <a:ext cx="1920240" cy="566928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>
                <a:alpha val="8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42616" y="11064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34056" y="1700784"/>
            <a:ext cx="1645920" cy="0"/>
          </a:xfrm>
          <a:prstGeom prst="line">
            <a:avLst/>
          </a:prstGeom>
          <a:noFill/>
          <a:ln w="12700">
            <a:solidFill>
              <a:srgbClr val="22C5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34056" y="1920240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98648" y="184708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dept-assigned leads only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34056" y="2487168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98648" y="2414016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sales response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34056" y="3054096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98648" y="2980944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dictation support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34056" y="3621024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98648" y="3547872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see marketing data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26864" y="1097280"/>
            <a:ext cx="1920240" cy="3154680"/>
          </a:xfrm>
          <a:prstGeom prst="rect">
            <a:avLst/>
          </a:prstGeom>
          <a:solidFill>
            <a:srgbClr val="1E293B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26864" y="1097280"/>
            <a:ext cx="1920240" cy="566928"/>
          </a:xfrm>
          <a:prstGeom prst="rect">
            <a:avLst/>
          </a:prstGeom>
          <a:solidFill>
            <a:srgbClr val="60A5FA">
              <a:alpha val="80000"/>
            </a:srgbClr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11064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64024" y="1700784"/>
            <a:ext cx="1645920" cy="0"/>
          </a:xfrm>
          <a:prstGeom prst="line">
            <a:avLst/>
          </a:prstGeom>
          <a:noFill/>
          <a:ln w="12700">
            <a:solidFill>
              <a:srgbClr val="60A5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64024" y="1920240"/>
            <a:ext cx="109728" cy="10972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28616" y="184708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visibility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64024" y="2487168"/>
            <a:ext cx="109728" cy="10972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28616" y="2414016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entities &amp; departments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64024" y="3054096"/>
            <a:ext cx="109728" cy="10972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28616" y="2980944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64024" y="3621024"/>
            <a:ext cx="109728" cy="10972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28616" y="3547872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656832" y="1097280"/>
            <a:ext cx="1920240" cy="3154680"/>
          </a:xfrm>
          <a:prstGeom prst="rect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656832" y="1097280"/>
            <a:ext cx="1920240" cy="566928"/>
          </a:xfrm>
          <a:prstGeom prst="rect">
            <a:avLst/>
          </a:prstGeom>
          <a:solidFill>
            <a:srgbClr val="818CF8">
              <a:alpha val="80000"/>
            </a:srgbClr>
          </a:solidFill>
          <a:ln w="12700">
            <a:solidFill>
              <a:srgbClr val="818CF8">
                <a:alpha val="8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02552" y="11064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793992" y="1700784"/>
            <a:ext cx="164592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93992" y="1920240"/>
            <a:ext cx="109728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58584" y="184708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access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793992" y="2487168"/>
            <a:ext cx="109728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58584" y="2414016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field permissions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793992" y="3054096"/>
            <a:ext cx="109728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958584" y="2980944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users &amp; entities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793992" y="3621024"/>
            <a:ext cx="109728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958584" y="3547872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dropdowns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How Your Team Actually Works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265176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05840"/>
            <a:ext cx="59436" cy="15361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9496" y="109728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  Egyptian Arabic Voice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9496" y="1499616"/>
            <a:ext cx="2395728" cy="0"/>
          </a:xfrm>
          <a:prstGeom prst="line">
            <a:avLst/>
          </a:prstGeom>
          <a:noFill/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" y="1554480"/>
            <a:ext cx="2450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Dictate notes in Arabic. Whisper AI transcribes instantly — even with mixed Arabic/English.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005840"/>
            <a:ext cx="265176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005840"/>
            <a:ext cx="59436" cy="15361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74136" y="109728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Quick Lead Access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374136" y="1499616"/>
            <a:ext cx="2395728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74136" y="1554480"/>
            <a:ext cx="2450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any REQ code — instantly pull up the full lead without leaving the screen.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80760" y="1005840"/>
            <a:ext cx="265176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80760" y="1005840"/>
            <a:ext cx="59436" cy="15361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08776" y="109728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Live Analytics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08776" y="1499616"/>
            <a:ext cx="2395728" cy="0"/>
          </a:xfrm>
          <a:prstGeom prst="line">
            <a:avLst/>
          </a:prstGeom>
          <a:noFill/>
          <a:ln w="12700">
            <a:solidFill>
              <a:srgbClr val="60A5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08776" y="1554480"/>
            <a:ext cx="2450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pipeline charts, source ROI, and sector heatmaps — refreshed in real time.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2724912"/>
            <a:ext cx="265176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11480" y="2724912"/>
            <a:ext cx="59436" cy="15361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" y="281635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WhatsApp Integration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9496" y="3218688"/>
            <a:ext cx="2395728" cy="0"/>
          </a:xfrm>
          <a:prstGeom prst="line">
            <a:avLst/>
          </a:prstGeom>
          <a:noFill/>
          <a:ln w="1270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3273552"/>
            <a:ext cx="2450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lead cards sent directly to coordinators the moment a lead is forwarded.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46120" y="2724912"/>
            <a:ext cx="265176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46120" y="2724912"/>
            <a:ext cx="59436" cy="15361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74136" y="281635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Multi-Entity Support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3374136" y="3218688"/>
            <a:ext cx="2395728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4136" y="3273552"/>
            <a:ext cx="2450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HSL · MGL · MKL · HCL — each entity has its own dropdown values, departments, and templates.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80760" y="2724912"/>
            <a:ext cx="265176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2724912"/>
            <a:ext cx="59436" cy="15361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08776" y="281635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Granular Permissions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208776" y="3218688"/>
            <a:ext cx="2395728" cy="0"/>
          </a:xfrm>
          <a:prstGeom prst="line">
            <a:avLst/>
          </a:prstGeom>
          <a:noFill/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08776" y="3273552"/>
            <a:ext cx="2450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access control. Admin sets exactly which role can view or edit each field.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Lead is Uniquely Tracked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 ·  Searchable  ·  Audit-trailed  ·  Conflict-free under concurrent submissions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0" y="1170432"/>
            <a:ext cx="5852160" cy="1078992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423160" y="1225296"/>
            <a:ext cx="868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HSL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423160" y="179222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78024" y="2084832"/>
            <a:ext cx="758952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225296"/>
            <a:ext cx="201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93008" y="1225296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493008" y="179222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47872" y="2084832"/>
            <a:ext cx="393192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95928" y="1225296"/>
            <a:ext cx="201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197096" y="12252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197096" y="1792224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2084832"/>
            <a:ext cx="484632" cy="54864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91456" y="1225296"/>
            <a:ext cx="201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992624" y="12252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992624" y="1792224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47488" y="2084832"/>
            <a:ext cx="484632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86984" y="1225296"/>
            <a:ext cx="201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788152" y="1225296"/>
            <a:ext cx="932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0001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5788152" y="179222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843016" y="2084832"/>
            <a:ext cx="8229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794760"/>
            <a:ext cx="54864" cy="5029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" y="3794760"/>
            <a:ext cx="7973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lead entry auto-generates a unique REQ code · Used across all views, exports, WhatsApp cards, and the audit trail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0100" y="2468880"/>
            <a:ext cx="2331720" cy="1078992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91540" y="254203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91540" y="305409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91540" y="327355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its own prefix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06140" y="2468880"/>
            <a:ext cx="2331720" cy="1078992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497580" y="254203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3497580" y="305409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Lock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97580" y="327355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submissions safe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12180" y="2468880"/>
            <a:ext cx="2331720" cy="1078992"/>
          </a:xfrm>
          <a:prstGeom prst="rect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103620" y="254203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6103620" y="305409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03620" y="327355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logged forever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Guesswork to Data-Driven Decisions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25780" y="1005840"/>
            <a:ext cx="1920240" cy="96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5780" y="1005840"/>
            <a:ext cx="192024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7220" y="11338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Total Leads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17220" y="151790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entities combined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83180" y="1005840"/>
            <a:ext cx="1920240" cy="96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83180" y="1005840"/>
            <a:ext cx="192024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74620" y="11338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Conversion Rate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674620" y="151790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Into Order / Total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40580" y="1005840"/>
            <a:ext cx="1920240" cy="96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40580" y="1005840"/>
            <a:ext cx="192024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2020" y="11338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In Pipeline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32020" y="151790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+ With Sales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697980" y="1005840"/>
            <a:ext cx="1920240" cy="96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97980" y="1005840"/>
            <a:ext cx="1920240" cy="7315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89420" y="11338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Avg Response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789420" y="151790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to Sales handoff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2148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Charts &amp; Reports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📉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96112" y="259689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Volume Timeline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6112" y="277977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7D / 30D / 3M / 1Y / All — area chart per entity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02920" y="3017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🏗️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96112" y="303580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96112" y="321868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→ Submitted → With Sales → Completed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4564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🔗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96112" y="34747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Lead Sources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6112" y="3657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channels drive the most qualified leads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2920" y="3895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🏭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96112" y="391363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Heatmap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6112" y="409651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industries by lead count and conversion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🎯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96112" y="43525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Breakdown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96112" y="453542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request status distribution, color-coded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937760" y="2057400"/>
            <a:ext cx="374904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074920" y="212140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Analytics Dashboard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074920" y="2468880"/>
            <a:ext cx="3474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3602736"/>
            <a:ext cx="347472" cy="877824"/>
          </a:xfrm>
          <a:prstGeom prst="rect">
            <a:avLst/>
          </a:prstGeom>
          <a:solidFill>
            <a:srgbClr val="06B6D4">
              <a:alpha val="70000"/>
            </a:srgbClr>
          </a:solidFill>
          <a:ln w="12700">
            <a:solidFill>
              <a:srgbClr val="06B6D4">
                <a:alpha val="8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32120" y="3236976"/>
            <a:ext cx="347472" cy="1243584"/>
          </a:xfrm>
          <a:prstGeom prst="rect">
            <a:avLst/>
          </a:prstGeom>
          <a:solidFill>
            <a:srgbClr val="60A5FA">
              <a:alpha val="70000"/>
            </a:srgbClr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89320" y="3749040"/>
            <a:ext cx="347472" cy="731520"/>
          </a:xfrm>
          <a:prstGeom prst="rect">
            <a:avLst/>
          </a:prstGeom>
          <a:solidFill>
            <a:srgbClr val="06B6D4">
              <a:alpha val="70000"/>
            </a:srgbClr>
          </a:solidFill>
          <a:ln w="12700">
            <a:solidFill>
              <a:srgbClr val="06B6D4">
                <a:alpha val="8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46520" y="3090672"/>
            <a:ext cx="347472" cy="1389888"/>
          </a:xfrm>
          <a:prstGeom prst="rect">
            <a:avLst/>
          </a:prstGeom>
          <a:solidFill>
            <a:srgbClr val="22C55E">
              <a:alpha val="70000"/>
            </a:srgbClr>
          </a:solidFill>
          <a:ln w="12700">
            <a:solidFill>
              <a:srgbClr val="22C55E">
                <a:alpha val="8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03720" y="3456432"/>
            <a:ext cx="347472" cy="1024128"/>
          </a:xfrm>
          <a:prstGeom prst="rect">
            <a:avLst/>
          </a:prstGeom>
          <a:solidFill>
            <a:srgbClr val="818CF8">
              <a:alpha val="70000"/>
            </a:srgbClr>
          </a:solidFill>
          <a:ln w="12700">
            <a:solidFill>
              <a:srgbClr val="818CF8">
                <a:alpha val="8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60920" y="3822192"/>
            <a:ext cx="347472" cy="65836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>
                <a:alpha val="8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18120" y="3310128"/>
            <a:ext cx="347472" cy="1170432"/>
          </a:xfrm>
          <a:prstGeom prst="rect">
            <a:avLst/>
          </a:prstGeom>
          <a:solidFill>
            <a:srgbClr val="06B6D4">
              <a:alpha val="70000"/>
            </a:srgbClr>
          </a:solidFill>
          <a:ln w="12700">
            <a:solidFill>
              <a:srgbClr val="06B6D4">
                <a:alpha val="8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74920" y="4498848"/>
            <a:ext cx="3474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37760" y="45720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Filterable by Entity  ·  Date Range  ·  Exportable to Excel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Everywhere Your Team Works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 ·  iOS  ·  Desktop — One codebase, one experience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42062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15568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📲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11704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on Phone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144475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home screen on iOS &amp; Android — no app store needed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883664"/>
            <a:ext cx="42062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883664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97280" y="19385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Resilience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21284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caches the app shell and recent data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2062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65176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⬇️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97280" y="27066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Navigation Bar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298094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Touch-optimised tab bar — all key actions one tap away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419856"/>
            <a:ext cx="42062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" y="341985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🎙️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97280" y="34747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 on Mobile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97280" y="374904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and transcribe directly from your phone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4187952"/>
            <a:ext cx="42062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418795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🔔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97280" y="424281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Notifications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" y="45171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alerts for lead handoff, sales updates, completions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166360" y="9144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263448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12664" y="1261872"/>
            <a:ext cx="3182112" cy="338328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12664" y="1261872"/>
            <a:ext cx="3182112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12664" y="1261872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NexFlow  ⚡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04104" y="1572768"/>
            <a:ext cx="299923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04104" y="1572768"/>
            <a:ext cx="50292" cy="457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95544" y="15727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HSL506240001  •  Ahmed Hassan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04104" y="2139696"/>
            <a:ext cx="299923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04104" y="2139696"/>
            <a:ext cx="50292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95544" y="21396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MGL506240002  •  Cairo Steel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04104" y="2706624"/>
            <a:ext cx="299923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04104" y="2706624"/>
            <a:ext cx="50292" cy="4572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95544" y="27066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MKL506240003  •  Delta Group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312664" y="4416552"/>
            <a:ext cx="3182112" cy="35661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12664" y="4416552"/>
            <a:ext cx="7955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＋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08192" y="4416552"/>
            <a:ext cx="7955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☰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903720" y="4416552"/>
            <a:ext cx="7955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6B6D4"/>
                </a:solidFill>
              </a:rPr>
              <a:t>⚡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699248" y="4416552"/>
            <a:ext cx="7955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◻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702552" y="1005840"/>
            <a:ext cx="402336" cy="164592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Lead Handoff via WhatsApp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fields  ·  Per-entity templates  ·  Auto-sent or manual wa.me link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84048" cy="384048"/>
          </a:xfrm>
          <a:prstGeom prst="ellipse">
            <a:avLst/>
          </a:prstGeom>
          <a:solidFill>
            <a:srgbClr val="06B6D4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9224" y="1700784"/>
            <a:ext cx="0" cy="347472"/>
          </a:xfrm>
          <a:prstGeom prst="line">
            <a:avLst/>
          </a:prstGeom>
          <a:noFill/>
          <a:ln w="12700">
            <a:solidFill>
              <a:srgbClr val="475569"/>
            </a:solidFill>
            <a:prstDash val="dashDot"/>
          </a:ln>
        </p:spPr>
      </p:sp>
      <p:sp>
        <p:nvSpPr>
          <p:cNvPr id="8" name="Text 6"/>
          <p:cNvSpPr/>
          <p:nvPr/>
        </p:nvSpPr>
        <p:spPr>
          <a:xfrm>
            <a:off x="932688" y="11704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submits lead with all details and routes to a department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67128"/>
            <a:ext cx="384048" cy="384048"/>
          </a:xfrm>
          <a:prstGeom prst="ellipse">
            <a:avLst/>
          </a:prstGeom>
          <a:solidFill>
            <a:srgbClr val="06B6D4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9224" y="2569464"/>
            <a:ext cx="0" cy="347472"/>
          </a:xfrm>
          <a:prstGeom prst="line">
            <a:avLst/>
          </a:prstGeom>
          <a:noFill/>
          <a:ln w="12700">
            <a:solidFill>
              <a:srgbClr val="475569"/>
            </a:solidFill>
            <a:prstDash val="dashDot"/>
          </a:ln>
        </p:spPr>
      </p:sp>
      <p:sp>
        <p:nvSpPr>
          <p:cNvPr id="12" name="Text 10"/>
          <p:cNvSpPr/>
          <p:nvPr/>
        </p:nvSpPr>
        <p:spPr>
          <a:xfrm>
            <a:off x="932688" y="203911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"Send to Sales" triggers — WhatsApp card auto-generated from template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384048" cy="384048"/>
          </a:xfrm>
          <a:prstGeom prst="ellipse">
            <a:avLst/>
          </a:prstGeom>
          <a:solidFill>
            <a:srgbClr val="06B6D4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" y="3438144"/>
            <a:ext cx="0" cy="347472"/>
          </a:xfrm>
          <a:prstGeom prst="line">
            <a:avLst/>
          </a:prstGeom>
          <a:noFill/>
          <a:ln w="12700">
            <a:solidFill>
              <a:srgbClr val="475569"/>
            </a:solidFill>
            <a:prstDash val="dashDot"/>
          </a:ln>
        </p:spPr>
      </p:sp>
      <p:sp>
        <p:nvSpPr>
          <p:cNvPr id="16" name="Text 14"/>
          <p:cNvSpPr/>
          <p:nvPr/>
        </p:nvSpPr>
        <p:spPr>
          <a:xfrm>
            <a:off x="932688" y="290779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receives the card on WhatsApp instantly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904488"/>
            <a:ext cx="384048" cy="384048"/>
          </a:xfrm>
          <a:prstGeom prst="ellipse">
            <a:avLst/>
          </a:prstGeom>
          <a:solidFill>
            <a:srgbClr val="06B6D4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2688" y="377647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team picks up the lead, updates status, closes the loop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892040" y="1005840"/>
            <a:ext cx="3794760" cy="3858768"/>
          </a:xfrm>
          <a:prstGeom prst="roundRect">
            <a:avLst>
              <a:gd name="adj" fmla="val 4337"/>
            </a:avLst>
          </a:prstGeom>
          <a:solidFill>
            <a:srgbClr val="0A3D2B"/>
          </a:solidFill>
          <a:ln w="12700">
            <a:solidFill>
              <a:srgbClr val="25D366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1005840"/>
            <a:ext cx="3794760" cy="402336"/>
          </a:xfrm>
          <a:prstGeom prst="rect">
            <a:avLst/>
          </a:prstGeom>
          <a:solidFill>
            <a:srgbClr val="075E54"/>
          </a:solidFill>
          <a:ln w="12700">
            <a:solidFill>
              <a:srgbClr val="075E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100584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WhatsApp  ·  BU Coordinator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38344" y="1499616"/>
            <a:ext cx="3502152" cy="3200400"/>
          </a:xfrm>
          <a:prstGeom prst="roundRect">
            <a:avLst>
              <a:gd name="adj" fmla="val 2857"/>
            </a:avLst>
          </a:prstGeom>
          <a:solidFill>
            <a:srgbClr val="1F2C34"/>
          </a:solidFill>
          <a:ln w="12700">
            <a:solidFill>
              <a:srgbClr val="2A39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9784" y="157276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New Lead — HSL506240001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129784" y="185623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━━━━━━━━━━━━━━━━━━━━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129784" y="2139696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24 May 2025  |  MIG-Handling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29784" y="24231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Acme Industrial  •  Factory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129784" y="2706624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Ahmed Hassan  |  +20 100 000 0000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9784" y="29900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Egypt — Cairo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129784" y="327355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Request: Conveyor automation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129784" y="3557016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Source: LinkedIn → Direct Call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29784" y="384048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Directed to: Automation Agencies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129784" y="4123944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━━━━━━━━━━━━━━━━━━━━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 on the Business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2560320" cy="530352"/>
          </a:xfrm>
          <a:prstGeom prst="rect">
            <a:avLst/>
          </a:prstGeom>
          <a:solidFill>
            <a:srgbClr val="06B6D4">
              <a:alpha val="80000"/>
            </a:srgbClr>
          </a:solidFill>
          <a:ln w="12700">
            <a:solidFill>
              <a:srgbClr val="06B6D4">
                <a:alpha val="8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332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Speed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not days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057400"/>
            <a:ext cx="2194560" cy="0"/>
          </a:xfrm>
          <a:prstGeom prst="line">
            <a:avLst/>
          </a:prstGeom>
          <a:noFill/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139696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entry, routing, and handoff happen within minutes. No more waiting for shared files to sync or emails to be noticed.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56032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005840"/>
            <a:ext cx="2560320" cy="530352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>
                <a:alpha val="8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10332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 Visibility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8328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pipeline, always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0" y="2057400"/>
            <a:ext cx="2194560" cy="0"/>
          </a:xfrm>
          <a:prstGeom prst="line">
            <a:avLst/>
          </a:prstGeom>
          <a:noFill/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2139696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all 4 entities in one unified view. Filter by source, status, date, or sector — any time, from any device.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56032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005840"/>
            <a:ext cx="2560320" cy="530352"/>
          </a:xfrm>
          <a:prstGeom prst="rect">
            <a:avLst/>
          </a:prstGeom>
          <a:solidFill>
            <a:srgbClr val="818CF8">
              <a:alpha val="80000"/>
            </a:srgbClr>
          </a:solidFill>
          <a:ln w="12700">
            <a:solidFill>
              <a:srgbClr val="818CF8">
                <a:alpha val="8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0332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Accountability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traced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309360" y="2057400"/>
            <a:ext cx="219456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139696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change, every handoff, every status update is logged with user, timestamp, and before/after values.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8229600" cy="749808"/>
          </a:xfrm>
          <a:prstGeom prst="rect">
            <a:avLst/>
          </a:prstGeom>
          <a:solidFill>
            <a:srgbClr val="06B6D4">
              <a:alpha val="12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31920"/>
            <a:ext cx="50292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950208"/>
            <a:ext cx="8001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 4 separate Excel files — one intelligent, role-aware, mobile-first platform for all of Makka Corp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Modern, Reliable Technology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 ·  Scalable  ·  Cloud-native  ·  Open for future integrations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33856"/>
            <a:ext cx="256032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33856"/>
            <a:ext cx="59436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1225296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Next.js 16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" y="1645920"/>
            <a:ext cx="230428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17190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React framework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components, App Router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133856"/>
            <a:ext cx="256032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133856"/>
            <a:ext cx="59436" cy="1508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9856" y="1225296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🐘  PostgreSQL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19856" y="1645920"/>
            <a:ext cx="230428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19856" y="17190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serverless on Vercel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1133856"/>
            <a:ext cx="256032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133856"/>
            <a:ext cx="59436" cy="15087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63056" y="1225296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🔷  Prisma 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63056" y="1645920"/>
            <a:ext cx="230428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63056" y="17190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DB access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&amp; schema management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2843784"/>
            <a:ext cx="256032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2843784"/>
            <a:ext cx="59436" cy="150876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2935224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NextAuth v5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6656" y="3355848"/>
            <a:ext cx="230428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3429000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session management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91840" y="2843784"/>
            <a:ext cx="256032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91840" y="2843784"/>
            <a:ext cx="59436" cy="15087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19856" y="2935224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  Groq Whisper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419856" y="3355848"/>
            <a:ext cx="230428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19856" y="3429000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speech-to-text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· Egyptian Arabic optimised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35040" y="2843784"/>
            <a:ext cx="256032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35040" y="2843784"/>
            <a:ext cx="59436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63056" y="2935224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Vercel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63056" y="3355848"/>
            <a:ext cx="230428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63056" y="3429000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deployment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network, auto-scaling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680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NexFlow is a living platform — the foundation is shipped, and the roadmap is ambitious.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" y="1481328"/>
            <a:ext cx="7498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4480" y="1298448"/>
            <a:ext cx="365760" cy="36576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1664208"/>
            <a:ext cx="0" cy="237744"/>
          </a:xfrm>
          <a:prstGeom prst="line">
            <a:avLst/>
          </a:prstGeom>
          <a:noFill/>
          <a:ln w="1270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01952"/>
            <a:ext cx="256032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901952"/>
            <a:ext cx="2560320" cy="566928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>
                <a:alpha val="8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901952"/>
            <a:ext cx="1587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9019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— Live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" y="2670048"/>
            <a:ext cx="128016" cy="1280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56032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platform for all 4 entities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" y="3090672"/>
            <a:ext cx="128016" cy="1280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298094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roles fully operational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" y="3511296"/>
            <a:ext cx="128016" cy="1280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401568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 live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" y="3931920"/>
            <a:ext cx="128016" cy="1280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82219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— installable on mobile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" y="4352544"/>
            <a:ext cx="128016" cy="1280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4242816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Egyptian Arabic voice input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0" y="1298448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0" y="1664208"/>
            <a:ext cx="0" cy="237744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1901952"/>
            <a:ext cx="256032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1901952"/>
            <a:ext cx="2560320" cy="566928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1901952"/>
            <a:ext cx="1587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 Phase 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83280" y="19019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56432" y="2670048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39312" y="256032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Business API (auto-send)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56432" y="309067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39312" y="298094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Person-level lead assignment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56432" y="3511296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3401568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comments &amp; conversation thread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56432" y="3931920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39312" y="382219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backup notifications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456432" y="4352544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242816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export &amp; reporting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23760" y="1298448"/>
            <a:ext cx="365760" cy="36576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406640" y="1664208"/>
            <a:ext cx="0" cy="237744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26480" y="1901952"/>
            <a:ext cx="256032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1901952"/>
            <a:ext cx="2560320" cy="566928"/>
          </a:xfrm>
          <a:prstGeom prst="rect">
            <a:avLst/>
          </a:prstGeom>
          <a:solidFill>
            <a:srgbClr val="818CF8">
              <a:alpha val="80000"/>
            </a:srgbClr>
          </a:solidFill>
          <a:ln w="12700">
            <a:solidFill>
              <a:srgbClr val="818CF8">
                <a:alpha val="8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1901952"/>
            <a:ext cx="1587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 Phase 3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217920" y="19019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91072" y="2670048"/>
            <a:ext cx="128016" cy="128016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3952" y="256032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lead scoring &amp; priority ranking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91072" y="3090672"/>
            <a:ext cx="128016" cy="128016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73952" y="298094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integrations (HubSpot / Zoho)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291072" y="3511296"/>
            <a:ext cx="128016" cy="128016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73952" y="3401568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 (other companies)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291072" y="3931920"/>
            <a:ext cx="128016" cy="128016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3952" y="382219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pipeline analytics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291072" y="4352544"/>
            <a:ext cx="128016" cy="128016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73952" y="4242816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 apps (React Native)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-1828800"/>
            <a:ext cx="6400800" cy="640080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>
                <a:alpha val="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26080" y="-1097280"/>
            <a:ext cx="3291840" cy="3291840"/>
          </a:xfrm>
          <a:prstGeom prst="ellipse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960620"/>
            <a:ext cx="9144000" cy="109728"/>
          </a:xfrm>
          <a:prstGeom prst="rect">
            <a:avLst/>
          </a:prstGeom>
          <a:solidFill>
            <a:srgbClr val="0891B2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1920" y="347472"/>
            <a:ext cx="1280160" cy="1280160"/>
          </a:xfrm>
          <a:prstGeom prst="ellipse">
            <a:avLst/>
          </a:prstGeom>
          <a:solidFill>
            <a:srgbClr val="06B6D4">
              <a:alpha val="85000"/>
            </a:srgbClr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279400" dist="50800" dir="8100000">
              <a:srgbClr val="06B6D4">
                <a:alpha val="5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31920" y="347472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⚡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914400" y="17830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NexFlow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14400" y="2633472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Marketing to Sales, Across Every Entity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86000" y="3273552"/>
            <a:ext cx="457200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383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Makka Corp  ·  Internal Platform  ·  Built 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32688" y="3840480"/>
            <a:ext cx="1737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20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8404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HSL · MIG Handling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79776" y="3840480"/>
            <a:ext cx="1737360" cy="292608"/>
          </a:xfrm>
          <a:prstGeom prst="roundRect">
            <a:avLst>
              <a:gd name="adj" fmla="val 18750"/>
            </a:avLst>
          </a:prstGeom>
          <a:solidFill>
            <a:srgbClr val="818CF8">
              <a:alpha val="20000"/>
            </a:srgbClr>
          </a:solidFill>
          <a:ln w="12700">
            <a:solidFill>
              <a:srgbClr val="818CF8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79776" y="38404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MGL · MIG Poultry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26864" y="3840480"/>
            <a:ext cx="1737360" cy="292608"/>
          </a:xfrm>
          <a:prstGeom prst="roundRect">
            <a:avLst>
              <a:gd name="adj" fmla="val 18750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26864" y="38404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MKL · EPPS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73952" y="3840480"/>
            <a:ext cx="1737360" cy="292608"/>
          </a:xfrm>
          <a:prstGeom prst="roundRect">
            <a:avLst>
              <a:gd name="adj" fmla="val 18750"/>
            </a:avLst>
          </a:prstGeom>
          <a:solidFill>
            <a:srgbClr val="60A5FA">
              <a:alpha val="20000"/>
            </a:srgbClr>
          </a:solidFill>
          <a:ln w="12700">
            <a:solidFill>
              <a:srgbClr val="60A5FA">
                <a:alpha val="6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8404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 · Conv Components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NexFlow — Intelligent Lead Pipeline Management</dc:title>
  <dc:subject>PptxGenJS Presentation</dc:subject>
  <dc:creator>Makka Corp</dc:creator>
  <cp:lastModifiedBy>Makka Corp</cp:lastModifiedBy>
  <cp:revision>1</cp:revision>
  <dcterms:created xsi:type="dcterms:W3CDTF">2026-06-01T08:55:12Z</dcterms:created>
  <dcterms:modified xsi:type="dcterms:W3CDTF">2026-06-01T08:55:12Z</dcterms:modified>
</cp:coreProperties>
</file>